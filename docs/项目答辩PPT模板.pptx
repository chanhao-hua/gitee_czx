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6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548640"/>
            <a:ext cx="9418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微软雅黑"/>
              </a:rPr>
              <a:t>Python数据采集 · 期末项目汇报</a:t>
            </a:r>
          </a:p>
          <a:p>
            <a:pPr algn="ctr">
              <a:spcAft>
                <a:spcPts val="0"/>
              </a:spcAft>
            </a:pPr>
            <a:r>
              <a:rPr sz="2200" b="0">
                <a:solidFill>
                  <a:srgbClr val="D6E4F0"/>
                </a:solidFill>
                <a:latin typeface="微软雅黑"/>
              </a:rPr>
              <a:t>Data Collection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474720"/>
            <a:ext cx="8503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B3A5C"/>
                </a:solidFill>
                <a:latin typeface="微软雅黑"/>
              </a:rPr>
              <a:t>项目名称：游戏导航与攻略聚合平台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小组名称：Group3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小组成员：陈志鑫、宁浩、袁佳成、李民辉、汤道权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指导教师：罗雪兵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汇报日期：2026年6月23日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1/13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微软雅黑"/>
              </a:rPr>
              <a:t>目 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1. 项目概述与选题背景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2. 小组分工与进度安排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3. 数据源分析与技术选型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703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4. 爬虫实现（数据源一）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89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5. 爬虫实现（数据源二）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074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6. 爬虫实现（数据源三）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7. 数据存储与清洗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8. 数据展示效果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9. 反爬处理与并发优化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03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10. 项目总结与心得体会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89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11. 参考文献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74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12. Q&amp;A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1. 项目概述与选题背景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项目背景与目标：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面向玩家构建游戏导航与攻略聚合平台，聚合游戏基础目录、B站直播热度和攻略视频入口；实现自动定时爬取、手动刷新、搜索诊断和 Web 展示。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选题背景与意义：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Steam/游民星空提供产品侧基础信息，Bilibili 直播反映国内内容热度，Bilibili 搜索补充攻略视频；多源数据组合后可支持游戏发现、热度判断和攻略导航。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数据源总览：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数据源一：游民星空 + Steam 商店列表    数据源二：Bilibili 直播 API    数据源三：Bilibili 动态页面源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2. 小组分工与进度安排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小组成员及分工：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陈志鑫（组长）：项目整合、FastAPI 页面展示、报告与答辩材料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宁浩：Bilibili API 数据采集、并发请求和性能优化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袁佳成：Bilibili 动态页面源采集、攻略搜索和降级方案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李民辉：SQLite 数据库、清洗去重规则和入库流程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汤道权：静态游戏目录爬虫、Steam 补源和单独运行调试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进度安排：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第14周：确定选题、分析三类数据源、完成项目结构设计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第15周：完成三个主爬虫、清洗逻辑、JSON 与 SQLite 存储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第16周：完成 Web 展示、自动定时爬取、测试、文档和答辩材料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3. 数据源分析与技术选型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技术选型总览：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数据源一：游民星空 + Steam 商店列表 → 页面类型：静态 + 接口 → 工具：requests、BeautifulSoup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数据源二：Bilibili 直播分区接口 → 页面类型：API → 工具：requests、ThreadPoolExecutor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数据源三：Bilibili 直播动态页面源 → 页面类型：动态加载数据 → 工具：动态接口复用、并发请求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反爬处理方案：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设置 User-Agent、Referer、Accept-Language、请求超时；单个来源失败不终止整体任务；Steam 多榜单补源；B站分区失败隔离。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并发优化方案：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Bilibili 直播数据使用多线程并发，默认 MAX_WORKERS=16；CrawlService 使用线程锁避免自动刷新和手动刷新冲突。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4-1. 爬虫实现（数据源1）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数据源1 实现要点：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目标URL：游民星空 https://ku.gamersky.com/；Steam 搜索结果接口 https://store.steampowered.com/search/results/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页面分析：游民星空为静态 HTML；Steam 接口返回 JSON，其中 results_html 包含游戏卡片 HTML。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使用工具：requests、BeautifulSoup、urllib.parse、dataclass。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字段设计：app_id、rank_index、name、platforms、source_url、header_image、source_site。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反爬处理：请求头伪装、超时控制、游民星空失败后 Steam 补源、多榜单轮询。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问题与解决：单一 Steam 榜单去重后不足 350 条，改为热销、新品、折扣、好评等多列表补齐。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运行结果：static_game_catalog raw=350，cleaned=350。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4-2. 爬虫实现（数据源2）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数据源2 实现要点：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目标URL：Bilibili 分区列表接口与直播房间列表接口。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页面分析：先获取直播父分区和子分区，再按游戏相关分区请求房间列表。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使用工具：requests、ThreadPoolExecutor、as_completed、dataclass。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字段设计：area_id、room_id、room_title、streamer_name、online、cover_url、room_url。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反爬处理：设置 User-Agent 和 Referer；单个分区请求失败时跳过，不影响整体任务。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问题与解决：分区数量多导致串行耗时高，使用 --workers 16 并发请求。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运行结果：bilibili_api_live raw=350，cleaned=350。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4-3. 爬虫实现（数据源3）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数据源3 实现要点：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目标URL：Bilibili 直播页面背后的动态加载接口，与直播分区房间列表接口一致。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页面分析：B站直播页面由前端动态加载数据，项目直接抓取动态加载接口，提高稳定性。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使用工具：requests、ThreadPoolExecutor，并复用 fetch_live_rankings()。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字段设计：area_id、room_id、room_title、streamer_name、online、room_url、scraped_at。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反爬处理：复用浏览器请求头、设置超时、限制最大并发、失败分区隔离。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问题与解决：直接运行脚本找不到 app 包，新增 spiders/bootstrap.py 自动加入项目根目录。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5303520" cy="4572000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运行结果：bilibili_dynamic_live raw=350，cleaned=350。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7. 数据存储与清洗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存储方式：JSON + SQLite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数据总量统计：数据源一 350条   数据源二 350条   数据源三 350条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总计：1050条（要求 ≥ 1000条）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数据清洗流程：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- 去重方法：游戏按 app_id/source_url；直播按 room_id；视频按 video_url。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- 缺失值处理：过滤空名称、空链接、空标题和无效占位文本。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- 格式标准化：URL 协议补全、文本空格清理、字段统一命名。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数据样例展示：data/raw 保存原始结果，data/cleaned 保存清洗结果，SQLite 保存首页展示数据。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8. 数据展示效果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展示形式：Web应用 + 数据仪表盘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展示平台/框架：FastAPI + Jinja2Templates + 原生 HTML/CSS/JavaScript + SQLite。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核心功能：首页热门游戏卡片、B站直播热度排行、数据源状态、自动爬取状态、游戏搜索、攻略视频聚合、诊断结果。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展示截图说明：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首页展示区域：热门游戏、B站热度、数据源运行状态。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666666"/>
                </a:solidFill>
                <a:latin typeface="微软雅黑"/>
              </a:rPr>
              <a:t>搜索结果区域：游戏基础信息、来源页面、B站直播入口、攻略视频和诊断建议。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9. 反爬处理与并发优化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反爬处理：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策略：请求头伪装、Referer、Accept-Language、超时控制、异常捕获、失败降级、多榜单补源。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效果：静态源由单榜单不足 350 条优化为稳定 cleaned 350 条；B站分区失败不会中断整体任务。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并发优化：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方案：Bilibili 直播源使用 ThreadPoolExecutor，多分区并发请求。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• 结果：默认并发从 4 提升到 16；三类主爬虫均可单独运行并输出 350 条数据。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10. 项目总结与心得体会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项目成果总结：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完成三类主数据源采集，每类 cleaned 350 条，总计 1050 条；完成 raw/cleaned JSON、SQLite 入库、FastAPI 展示、自动定时爬取、手动刷新和攻略搜索。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遇到的问题与解决方案：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1. Steam 单榜单不足：多榜单补源；2. B站分区请求多：线程池并发；3. 直接运行脚本导入失败：新增 bootstrap；4. 多源字段不同：统一清洗和去重。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E74B5"/>
                </a:solidFill>
                <a:latin typeface="微软雅黑"/>
              </a:rPr>
              <a:t>个人心得体会：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陈志鑫：理解了采集、存储、展示和报告整合的完整闭环。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宁浩：掌握了 Bilibili 分区并发采集和异常隔离。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微软雅黑"/>
              </a:rPr>
              <a:t>袁佳成：理解了动态页面数据源和攻略搜索降级方案。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66666"/>
                </a:solidFill>
                <a:latin typeface="微软雅黑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微软雅黑"/>
              </a:rPr>
              <a:t>Q &amp; A</a:t>
            </a:r>
          </a:p>
          <a:p>
            <a:pPr algn="ctr">
              <a:spcAft>
                <a:spcPts val="400"/>
              </a:spcAft>
            </a:pPr>
            <a:r>
              <a:rPr sz="2600" b="0">
                <a:solidFill>
                  <a:srgbClr val="D6E4F0"/>
                </a:solidFill>
                <a:latin typeface="微软雅黑"/>
              </a:rPr>
              <a:t>感谢各位老师和同学的聆听！</a:t>
            </a:r>
          </a:p>
          <a:p>
            <a:pPr algn="ctr">
              <a:spcAft>
                <a:spcPts val="400"/>
              </a:spcAft>
            </a:pPr>
            <a:r>
              <a:rPr sz="2200" b="0">
                <a:solidFill>
                  <a:srgbClr val="D6E4F0"/>
                </a:solidFill>
                <a:latin typeface="微软雅黑"/>
              </a:rPr>
              <a:t>欢迎提问与交流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